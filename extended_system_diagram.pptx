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2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914400"/>
            <a:ext cx="1371600" cy="914400"/>
          </a:xfrm>
          <a:prstGeom prst="rect">
            <a:avLst/>
          </a:prstGeom>
          <a:solidFill>
            <a:srgbClr val="E1E1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rPr sz="1600" dirty="0">
                <a:solidFill>
                  <a:schemeClr val="tx1"/>
                </a:solidFill>
                <a:latin typeface="Georgia" panose="02040502050405020303" pitchFamily="18" charset="0"/>
              </a:rPr>
              <a:t>Input Video / Document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11680" y="457200"/>
            <a:ext cx="1828800" cy="283464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rPr sz="1600" dirty="0">
                <a:solidFill>
                  <a:schemeClr val="tx1"/>
                </a:solidFill>
                <a:latin typeface="Georgia" panose="02040502050405020303" pitchFamily="18" charset="0"/>
              </a:rPr>
              <a:t>Processing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240280" y="380847"/>
            <a:ext cx="1371600" cy="830275"/>
          </a:xfrm>
          <a:prstGeom prst="rect">
            <a:avLst/>
          </a:prstGeom>
          <a:solidFill>
            <a:srgbClr val="D9E2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rPr sz="1600" dirty="0">
                <a:solidFill>
                  <a:schemeClr val="tx1"/>
                </a:solidFill>
                <a:latin typeface="Georgia" panose="02040502050405020303" pitchFamily="18" charset="0"/>
              </a:rPr>
              <a:t>Key Frame Extractio</a:t>
            </a:r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n</a:t>
            </a:r>
            <a:endParaRPr sz="16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40280" y="1544420"/>
            <a:ext cx="1495958" cy="632765"/>
          </a:xfrm>
          <a:prstGeom prst="rect">
            <a:avLst/>
          </a:prstGeom>
          <a:solidFill>
            <a:srgbClr val="FFE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rPr sz="1600" dirty="0">
                <a:solidFill>
                  <a:schemeClr val="tx1"/>
                </a:solidFill>
                <a:latin typeface="Georgia" panose="02040502050405020303" pitchFamily="18" charset="0"/>
              </a:rPr>
              <a:t>Visual Embeddings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148840" y="2413101"/>
            <a:ext cx="1554480" cy="548640"/>
          </a:xfrm>
          <a:prstGeom prst="rect">
            <a:avLst/>
          </a:prstGeom>
          <a:solidFill>
            <a:srgbClr val="D9E2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rPr sz="1600" dirty="0">
                <a:solidFill>
                  <a:schemeClr val="tx1"/>
                </a:solidFill>
                <a:latin typeface="Georgia" panose="02040502050405020303" pitchFamily="18" charset="0"/>
              </a:rPr>
              <a:t>ASR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943350"/>
            <a:ext cx="1554480" cy="731520"/>
          </a:xfrm>
          <a:prstGeom prst="rect">
            <a:avLst/>
          </a:prstGeom>
          <a:solidFill>
            <a:srgbClr val="FFE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rPr sz="1600" dirty="0">
                <a:solidFill>
                  <a:schemeClr val="tx1"/>
                </a:solidFill>
                <a:latin typeface="Georgia" panose="02040502050405020303" pitchFamily="18" charset="0"/>
              </a:rPr>
              <a:t>Text Embedding</a:t>
            </a:r>
            <a:r>
              <a:rPr 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s</a:t>
            </a:r>
            <a:endParaRPr sz="16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8" name="Can 7"/>
          <p:cNvSpPr/>
          <p:nvPr/>
        </p:nvSpPr>
        <p:spPr>
          <a:xfrm>
            <a:off x="4572000" y="2286000"/>
            <a:ext cx="1371600" cy="1371600"/>
          </a:xfrm>
          <a:prstGeom prst="can">
            <a:avLst/>
          </a:prstGeom>
          <a:solidFill>
            <a:srgbClr val="F4B0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rPr sz="1600" dirty="0">
                <a:solidFill>
                  <a:schemeClr val="tx1"/>
                </a:solidFill>
                <a:latin typeface="Georgia" panose="02040502050405020303" pitchFamily="18" charset="0"/>
              </a:rPr>
              <a:t>Vector Database</a:t>
            </a:r>
          </a:p>
        </p:txBody>
      </p:sp>
      <p:sp>
        <p:nvSpPr>
          <p:cNvPr id="9" name="Cloud Callout 8"/>
          <p:cNvSpPr/>
          <p:nvPr/>
        </p:nvSpPr>
        <p:spPr>
          <a:xfrm>
            <a:off x="6857999" y="738835"/>
            <a:ext cx="2366467" cy="1089965"/>
          </a:xfrm>
          <a:prstGeom prst="cloudCallout">
            <a:avLst/>
          </a:prstGeom>
          <a:solidFill>
            <a:srgbClr val="E2F0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rPr sz="1600" dirty="0">
                <a:solidFill>
                  <a:schemeClr val="tx1"/>
                </a:solidFill>
                <a:latin typeface="Georgia" panose="02040502050405020303" pitchFamily="18" charset="0"/>
              </a:rPr>
              <a:t>User Query:</a:t>
            </a:r>
          </a:p>
          <a:p>
            <a:r>
              <a:rPr sz="1600" dirty="0">
                <a:solidFill>
                  <a:schemeClr val="tx1"/>
                </a:solidFill>
                <a:latin typeface="Georgia" panose="02040502050405020303" pitchFamily="18" charset="0"/>
              </a:rPr>
              <a:t>"What is oil drilling...?"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48935" y="2148840"/>
            <a:ext cx="2470706" cy="685800"/>
          </a:xfrm>
          <a:prstGeom prst="rect">
            <a:avLst/>
          </a:prstGeom>
          <a:solidFill>
            <a:srgbClr val="E2F0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rPr sz="1600" dirty="0">
                <a:solidFill>
                  <a:schemeClr val="tx1"/>
                </a:solidFill>
                <a:latin typeface="Georgia" panose="02040502050405020303" pitchFamily="18" charset="0"/>
              </a:rPr>
              <a:t>Query Pre-processing</a:t>
            </a:r>
          </a:p>
          <a:p>
            <a:pPr algn="ctr"/>
            <a:r>
              <a:rPr sz="1400" dirty="0">
                <a:solidFill>
                  <a:schemeClr val="tx1"/>
                </a:solidFill>
                <a:latin typeface="Georgia" panose="02040502050405020303" pitchFamily="18" charset="0"/>
              </a:rPr>
              <a:t>(Embedding + Keyword Extract)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00400"/>
            <a:ext cx="4572000" cy="2286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160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38591" y="3231118"/>
            <a:ext cx="19431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1600" dirty="0">
                <a:latin typeface="Georgia" panose="02040502050405020303" pitchFamily="18" charset="0"/>
              </a:rPr>
              <a:t>Retrieval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77608" y="3749040"/>
            <a:ext cx="1776352" cy="685800"/>
          </a:xfrm>
          <a:prstGeom prst="rect">
            <a:avLst/>
          </a:prstGeom>
          <a:solidFill>
            <a:srgbClr val="D9E2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rPr sz="1600" dirty="0">
                <a:solidFill>
                  <a:schemeClr val="tx1"/>
                </a:solidFill>
                <a:latin typeface="Georgia" panose="02040502050405020303" pitchFamily="18" charset="0"/>
              </a:rPr>
              <a:t>Vector Search</a:t>
            </a:r>
          </a:p>
          <a:p>
            <a:pPr algn="ctr"/>
            <a:r>
              <a:rPr sz="1400" dirty="0">
                <a:solidFill>
                  <a:schemeClr val="tx1"/>
                </a:solidFill>
                <a:latin typeface="Georgia" panose="02040502050405020303" pitchFamily="18" charset="0"/>
              </a:rPr>
              <a:t>(Semantic Similarity)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799" y="3661172"/>
            <a:ext cx="1898295" cy="727948"/>
          </a:xfrm>
          <a:prstGeom prst="rect">
            <a:avLst/>
          </a:prstGeom>
          <a:solidFill>
            <a:srgbClr val="D9E2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rPr sz="1600" dirty="0">
                <a:solidFill>
                  <a:schemeClr val="tx1"/>
                </a:solidFill>
                <a:latin typeface="Georgia" panose="02040502050405020303" pitchFamily="18" charset="0"/>
              </a:rPr>
              <a:t>Fuzzy/Keyword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73798" y="4754880"/>
            <a:ext cx="2344522" cy="548640"/>
          </a:xfrm>
          <a:prstGeom prst="rect">
            <a:avLst/>
          </a:prstGeom>
          <a:solidFill>
            <a:srgbClr val="FFE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rPr sz="1600" dirty="0">
                <a:solidFill>
                  <a:schemeClr val="tx1"/>
                </a:solidFill>
                <a:latin typeface="Georgia" panose="02040502050405020303" pitchFamily="18" charset="0"/>
              </a:rPr>
              <a:t>Reranker &amp; Fusion</a:t>
            </a:r>
          </a:p>
          <a:p>
            <a:pPr algn="ctr"/>
            <a:r>
              <a:rPr sz="1400" dirty="0">
                <a:solidFill>
                  <a:schemeClr val="tx1"/>
                </a:solidFill>
                <a:latin typeface="Georgia" panose="02040502050405020303" pitchFamily="18" charset="0"/>
              </a:rPr>
              <a:t>(Combine Scores)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0" y="1828800"/>
            <a:ext cx="2286000" cy="1028700"/>
          </a:xfrm>
          <a:prstGeom prst="rect">
            <a:avLst/>
          </a:prstGeom>
          <a:solidFill>
            <a:srgbClr val="FFE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rPr sz="1600" dirty="0">
                <a:solidFill>
                  <a:schemeClr val="tx1"/>
                </a:solidFill>
                <a:latin typeface="Georgia" panose="02040502050405020303" pitchFamily="18" charset="0"/>
              </a:rPr>
              <a:t>LLM Generation</a:t>
            </a:r>
          </a:p>
          <a:p>
            <a:pPr algn="ctr"/>
            <a:r>
              <a:rPr sz="1400" dirty="0">
                <a:solidFill>
                  <a:schemeClr val="tx1"/>
                </a:solidFill>
                <a:latin typeface="Georgia" panose="02040502050405020303" pitchFamily="18" charset="0"/>
              </a:rPr>
              <a:t>(Grounded Answer)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78946" y="5486399"/>
            <a:ext cx="2022653" cy="1250899"/>
          </a:xfrm>
          <a:prstGeom prst="rect">
            <a:avLst/>
          </a:prstGeom>
          <a:solidFill>
            <a:srgbClr val="C6EFC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rPr sz="1600" dirty="0">
                <a:solidFill>
                  <a:schemeClr val="tx1"/>
                </a:solidFill>
                <a:latin typeface="Georgia" panose="02040502050405020303" pitchFamily="18" charset="0"/>
              </a:rPr>
              <a:t>Final Output</a:t>
            </a:r>
          </a:p>
          <a:p>
            <a:pPr algn="ctr"/>
            <a:r>
              <a:rPr sz="1400" dirty="0">
                <a:solidFill>
                  <a:schemeClr val="tx1"/>
                </a:solidFill>
                <a:latin typeface="Georgia" panose="02040502050405020303" pitchFamily="18" charset="0"/>
              </a:rPr>
              <a:t>(Timestamps, Chunks,</a:t>
            </a:r>
          </a:p>
          <a:p>
            <a:pPr algn="ctr"/>
            <a:r>
              <a:rPr sz="1400" dirty="0">
                <a:solidFill>
                  <a:schemeClr val="tx1"/>
                </a:solidFill>
                <a:latin typeface="Georgia" panose="02040502050405020303" pitchFamily="18" charset="0"/>
              </a:rPr>
              <a:t>or Natural Language)</a:t>
            </a:r>
          </a:p>
        </p:txBody>
      </p:sp>
      <p:cxnSp>
        <p:nvCxnSpPr>
          <p:cNvPr id="18" name="Connector 17"/>
          <p:cNvCxnSpPr>
            <a:cxnSpLocks/>
            <a:endCxn id="8" idx="1"/>
          </p:cNvCxnSpPr>
          <p:nvPr/>
        </p:nvCxnSpPr>
        <p:spPr>
          <a:xfrm>
            <a:off x="3848709" y="1634489"/>
            <a:ext cx="1409091" cy="6515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834408" y="3600450"/>
            <a:ext cx="914400" cy="685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61197" y="169164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72400" y="28346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</p:cNvCxnSpPr>
          <p:nvPr/>
        </p:nvCxnSpPr>
        <p:spPr>
          <a:xfrm>
            <a:off x="7315200" y="2834640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2834640"/>
            <a:ext cx="457200" cy="1005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  <a:stCxn id="13" idx="2"/>
          </p:cNvCxnSpPr>
          <p:nvPr/>
        </p:nvCxnSpPr>
        <p:spPr>
          <a:xfrm>
            <a:off x="7465784" y="4434840"/>
            <a:ext cx="763816" cy="320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778240" y="4389120"/>
            <a:ext cx="73152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  <a:endCxn id="16" idx="2"/>
          </p:cNvCxnSpPr>
          <p:nvPr/>
        </p:nvCxnSpPr>
        <p:spPr>
          <a:xfrm flipV="1">
            <a:off x="9418320" y="2857500"/>
            <a:ext cx="2240280" cy="2171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</p:cNvCxnSpPr>
          <p:nvPr/>
        </p:nvCxnSpPr>
        <p:spPr>
          <a:xfrm>
            <a:off x="9418320" y="5219395"/>
            <a:ext cx="1360627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cxnSpLocks/>
            <a:endCxn id="17" idx="0"/>
          </p:cNvCxnSpPr>
          <p:nvPr/>
        </p:nvCxnSpPr>
        <p:spPr>
          <a:xfrm>
            <a:off x="11693347" y="2857500"/>
            <a:ext cx="96926" cy="26288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18">
            <a:extLst>
              <a:ext uri="{FF2B5EF4-FFF2-40B4-BE49-F238E27FC236}">
                <a16:creationId xmlns:a16="http://schemas.microsoft.com/office/drawing/2014/main" id="{0319F765-1ED7-8D37-5367-D64920F04D07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257800" y="3657600"/>
            <a:ext cx="1143000" cy="5143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72</Words>
  <Application>Microsoft Office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Fahad Nawaz Rana</cp:lastModifiedBy>
  <cp:revision>3</cp:revision>
  <dcterms:created xsi:type="dcterms:W3CDTF">2013-01-27T09:14:16Z</dcterms:created>
  <dcterms:modified xsi:type="dcterms:W3CDTF">2026-05-07T12:30:13Z</dcterms:modified>
  <cp:category/>
</cp:coreProperties>
</file>